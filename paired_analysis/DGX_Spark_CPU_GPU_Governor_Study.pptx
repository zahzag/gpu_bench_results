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46720" y="0"/>
            <a:ext cx="4145279" cy="6858000"/>
          </a:xfrm>
          <a:prstGeom prst="rect">
            <a:avLst/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32520" y="0"/>
            <a:ext cx="73152" cy="6858000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6766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35D0BA"/>
                </a:solidFill>
                <a:latin typeface="Aptos Mono"/>
              </a:defRPr>
            </a:pPr>
            <a:r>
              <a:t>PERFORMANCE / ENERGY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708660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3900" b="1">
                <a:solidFill>
                  <a:srgbClr val="F6FAFC"/>
                </a:solidFill>
                <a:latin typeface="Aptos"/>
              </a:defRPr>
            </a:pPr>
            <a:r>
              <a:t>CPU x GPU</a:t>
            </a:r>
            <a:br/>
            <a:r>
              <a:t>Governor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99232"/>
            <a:ext cx="47548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F786A"/>
                </a:solidFill>
                <a:latin typeface="Aptos"/>
              </a:defRPr>
            </a:pPr>
            <a:r>
              <a:t>DGX Spark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794760"/>
            <a:ext cx="66294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800" b="0">
                <a:solidFill>
                  <a:srgbClr val="9DB0BC"/>
                </a:solidFill>
                <a:latin typeface="Aptos"/>
              </a:defRPr>
            </a:pPr>
            <a:r>
              <a:t>Latency, device time, power, and GPU EDP across the measured operating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108192"/>
            <a:ext cx="6858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9DB0BC"/>
                </a:solidFill>
                <a:latin typeface="Aptos Mono"/>
              </a:defRPr>
            </a:pPr>
            <a:r>
              <a:t>SOURCE  governor_effects.csv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114300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89720" y="1143000"/>
            <a:ext cx="54864" cy="1234440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0888" y="1307592"/>
            <a:ext cx="1783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RAW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0888" y="1664207"/>
            <a:ext cx="17830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FAFC"/>
                </a:solidFill>
                <a:latin typeface="Aptos"/>
              </a:defRPr>
            </a:pPr>
            <a:r>
              <a:t>2,400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90888" y="1901952"/>
            <a:ext cx="17830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9DB0BC"/>
                </a:solidFill>
                <a:latin typeface="Aptos"/>
              </a:defRPr>
            </a:pPr>
            <a:r>
              <a:t>240 aggregate cells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265176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89720" y="2651760"/>
            <a:ext cx="54864" cy="1234440"/>
          </a:xfrm>
          <a:prstGeom prst="rect">
            <a:avLst/>
          </a:prstGeom>
          <a:solidFill>
            <a:srgbClr val="FF786A"/>
          </a:solidFill>
          <a:ln>
            <a:solidFill>
              <a:srgbClr val="FF7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0888" y="2816352"/>
            <a:ext cx="1783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WORKLOADS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3172968"/>
            <a:ext cx="17830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FAFC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416052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4160520"/>
            <a:ext cx="54864" cy="1234440"/>
          </a:xfrm>
          <a:prstGeom prst="rect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4325112"/>
            <a:ext cx="1783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GOVERNOR MODES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4681728"/>
            <a:ext cx="17830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FAFC"/>
                </a:solidFill>
                <a:latin typeface="Aptos"/>
              </a:defRPr>
            </a:pPr>
            <a:r>
              <a:t>2 CPU / 4 GPU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35D0BA"/>
                </a:solidFill>
                <a:latin typeface="Aptos Mono"/>
              </a:defRPr>
            </a:pPr>
            <a:r>
              <a:t>DECISION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6FAFC"/>
                </a:solidFill>
                <a:latin typeface="Aptos"/>
              </a:defRPr>
            </a:pPr>
            <a:r>
              <a:t>One central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37392" cy="13716"/>
          </a:xfrm>
          <a:prstGeom prst="rect">
            <a:avLst/>
          </a:prstGeom>
          <a:solidFill>
            <a:srgbClr val="294553"/>
          </a:solidFill>
          <a:ln>
            <a:solidFill>
              <a:srgbClr val="294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65392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9DB0BC"/>
                </a:solidFill>
                <a:latin typeface="Aptos Mono"/>
              </a:defRPr>
            </a:pPr>
            <a:r>
              <a:t>DGX SPARK  /  CPU x GPU GOVERNORS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607040" cy="1234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3000" b="1">
                <a:solidFill>
                  <a:srgbClr val="F6FAFC"/>
                </a:solidFill>
                <a:latin typeface="Aptos"/>
              </a:defRPr>
            </a:pPr>
            <a:r>
              <a:t>When does spending more power on frequency control produce a material, repeatable gain?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429000"/>
            <a:ext cx="3401568" cy="141732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1832" y="3685032"/>
            <a:ext cx="146304" cy="658368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611880"/>
            <a:ext cx="25603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6FAFC"/>
                </a:solidFill>
                <a:latin typeface="Aptos"/>
              </a:defRPr>
            </a:pPr>
            <a:r>
              <a:t>CPU governor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069080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9DB0BC"/>
                </a:solidFill>
                <a:latin typeface="Aptos"/>
              </a:defRPr>
            </a:pPr>
            <a:r>
              <a:t>Host-side launch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7992" y="3429000"/>
            <a:ext cx="3401568" cy="141732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36592" y="3685032"/>
            <a:ext cx="146304" cy="658368"/>
          </a:xfrm>
          <a:prstGeom prst="rect">
            <a:avLst/>
          </a:prstGeom>
          <a:solidFill>
            <a:srgbClr val="FF786A"/>
          </a:solidFill>
          <a:ln>
            <a:solidFill>
              <a:srgbClr val="FF7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3611880"/>
            <a:ext cx="25603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6FAFC"/>
                </a:solidFill>
                <a:latin typeface="Aptos"/>
              </a:defRPr>
            </a:pPr>
            <a:r>
              <a:t>GPU governor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4069080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9DB0BC"/>
                </a:solidFill>
                <a:latin typeface="Aptos"/>
              </a:defRPr>
            </a:pPr>
            <a:r>
              <a:t>Device time + power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3429000"/>
            <a:ext cx="3401568" cy="141732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31352" y="3685032"/>
            <a:ext cx="146304" cy="658368"/>
          </a:xfrm>
          <a:prstGeom prst="rect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3611880"/>
            <a:ext cx="25603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6FAFC"/>
                </a:solidFill>
                <a:latin typeface="Aptos"/>
              </a:defRPr>
            </a:pPr>
            <a:r>
              <a:t>Workload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069080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9DB0BC"/>
                </a:solidFill>
                <a:latin typeface="Aptos"/>
              </a:defRPr>
            </a:pPr>
            <a:r>
              <a:t>Bottleneck determines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532120"/>
            <a:ext cx="96012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35D0BA"/>
                </a:solidFill>
                <a:latin typeface="Aptos Mono"/>
              </a:defRPr>
            </a:pPr>
            <a:r>
              <a:t>OUTPUT  -&gt;  a transparent policy, not a universal max-performance setting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35D0BA"/>
                </a:solidFill>
                <a:latin typeface="Aptos Mono"/>
              </a:defRPr>
            </a:pPr>
            <a:r>
              <a:t>2,400-RUN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6FAFC"/>
                </a:solidFill>
                <a:latin typeface="Aptos"/>
              </a:defRPr>
            </a:pPr>
            <a:r>
              <a:t>Experimental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37392" cy="13716"/>
          </a:xfrm>
          <a:prstGeom prst="rect">
            <a:avLst/>
          </a:prstGeom>
          <a:solidFill>
            <a:srgbClr val="294553"/>
          </a:solidFill>
          <a:ln>
            <a:solidFill>
              <a:srgbClr val="294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65392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9DB0BC"/>
                </a:solidFill>
                <a:latin typeface="Aptos Mono"/>
              </a:defRPr>
            </a:pPr>
            <a:r>
              <a:t>DGX SPARK  /  CPU x GPU GOVERNORS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401568" cy="1353312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54864" cy="135331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81912"/>
            <a:ext cx="30358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STUDY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938528"/>
            <a:ext cx="3035808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FAFC"/>
                </a:solidFill>
                <a:latin typeface="Aptos"/>
              </a:defRPr>
            </a:pPr>
            <a:r>
              <a:t>2,400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295144"/>
            <a:ext cx="30358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9DB0BC"/>
                </a:solidFill>
                <a:latin typeface="Aptos"/>
              </a:defRPr>
            </a:pPr>
            <a:r>
              <a:t>full experiment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17320"/>
            <a:ext cx="3401568" cy="1353312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417320"/>
            <a:ext cx="54864" cy="1353312"/>
          </a:xfrm>
          <a:prstGeom prst="rect">
            <a:avLst/>
          </a:prstGeom>
          <a:solidFill>
            <a:srgbClr val="FF786A"/>
          </a:solidFill>
          <a:ln>
            <a:solidFill>
              <a:srgbClr val="FF7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581912"/>
            <a:ext cx="30358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AGGREGATE CELLS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938528"/>
            <a:ext cx="3035808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FAFC"/>
                </a:solidFill>
                <a:latin typeface="Aptos"/>
              </a:defRPr>
            </a:pPr>
            <a:r>
              <a:t>240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295144"/>
            <a:ext cx="30358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9DB0BC"/>
                </a:solidFill>
                <a:latin typeface="Aptos"/>
              </a:defRPr>
            </a:pPr>
            <a:r>
              <a:t>governor_effects.csv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417320"/>
            <a:ext cx="3401568" cy="1353312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1417320"/>
            <a:ext cx="54864" cy="1353312"/>
          </a:xfrm>
          <a:prstGeom prst="rect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1581912"/>
            <a:ext cx="30358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WORKLOADS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1938528"/>
            <a:ext cx="3035808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FAFC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2295144"/>
            <a:ext cx="30358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9DB0BC"/>
                </a:solidFill>
                <a:latin typeface="Aptos"/>
              </a:defRPr>
            </a:pPr>
            <a:r>
              <a:t>observed labels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246120"/>
            <a:ext cx="34015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35D0BA"/>
                </a:solidFill>
                <a:latin typeface="Aptos Mono"/>
              </a:defRPr>
            </a:pPr>
            <a:r>
              <a:t>CPU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703320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593592"/>
            <a:ext cx="3172968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6FAFC"/>
                </a:solidFill>
                <a:latin typeface="Aptos"/>
              </a:defRPr>
            </a:pPr>
            <a:r>
              <a:t>cpu_performance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663440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553712"/>
            <a:ext cx="3172968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6FAFC"/>
                </a:solidFill>
                <a:latin typeface="Aptos"/>
              </a:defRPr>
            </a:pPr>
            <a:r>
              <a:t>cpu_powersave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246120"/>
            <a:ext cx="34015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35D0BA"/>
                </a:solidFill>
                <a:latin typeface="Aptos Mono"/>
              </a:defRPr>
            </a:pPr>
            <a:r>
              <a:t>GPU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3703320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3593592"/>
            <a:ext cx="3172968" cy="4526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6FAFC"/>
                </a:solidFill>
                <a:latin typeface="Aptos"/>
              </a:defRPr>
            </a:pPr>
            <a:r>
              <a:t>gpu_default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4183380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4073652"/>
            <a:ext cx="3172968" cy="4526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6FAFC"/>
                </a:solidFill>
                <a:latin typeface="Aptos"/>
              </a:defRPr>
            </a:pPr>
            <a:r>
              <a:t>gpu_ondemand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4663440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4553712"/>
            <a:ext cx="3172968" cy="4526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6FAFC"/>
                </a:solidFill>
                <a:latin typeface="Aptos"/>
              </a:defRPr>
            </a:pPr>
            <a:r>
              <a:t>gpu_performance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5143500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5033772"/>
            <a:ext cx="3172968" cy="4526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6FAFC"/>
                </a:solidFill>
                <a:latin typeface="Aptos"/>
              </a:defRPr>
            </a:pPr>
            <a:r>
              <a:t>gpu_powersave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3246120"/>
            <a:ext cx="34015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35D0BA"/>
                </a:solidFill>
                <a:latin typeface="Aptos Mono"/>
              </a:defRPr>
            </a:pPr>
            <a:r>
              <a:t>WORKLOAD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80" y="3703320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3593592"/>
            <a:ext cx="317296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6FAFC"/>
                </a:solidFill>
                <a:latin typeface="Aptos"/>
              </a:defRPr>
            </a:pPr>
            <a:r>
              <a:t>babelstream-cuda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80" y="4023360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3913632"/>
            <a:ext cx="317296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6FAFC"/>
                </a:solidFill>
                <a:latin typeface="Aptos"/>
              </a:defRPr>
            </a:pPr>
            <a:r>
              <a:t>backprop-cuda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80" y="4343400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4233672"/>
            <a:ext cx="317296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6FAFC"/>
                </a:solidFill>
                <a:latin typeface="Aptos"/>
              </a:defRPr>
            </a:pPr>
            <a:r>
              <a:t>bfs-cuda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83880" y="4663440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4553712"/>
            <a:ext cx="317296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6FAFC"/>
                </a:solidFill>
                <a:latin typeface="Aptos"/>
              </a:defRPr>
            </a:pPr>
            <a:r>
              <a:t>bh-cuda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83880" y="4983480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4873752"/>
            <a:ext cx="317296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6FAFC"/>
                </a:solidFill>
                <a:latin typeface="Aptos"/>
              </a:defRPr>
            </a:pPr>
            <a:r>
              <a:t>cfd-cuda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83880" y="5303520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5193792"/>
            <a:ext cx="317296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6FAFC"/>
                </a:solidFill>
                <a:latin typeface="Aptos"/>
              </a:defRPr>
            </a:pPr>
            <a:r>
              <a:t>fft-cuda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5596128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9DB0BC"/>
                </a:solidFill>
                <a:latin typeface="Aptos Mono"/>
              </a:defRPr>
            </a:pPr>
            <a:r>
              <a:t>+ 24 more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35D0BA"/>
                </a:solidFill>
                <a:latin typeface="Aptos Mono"/>
              </a:defRPr>
            </a:pPr>
            <a:r>
              <a:t>KEEP THE BOUNDARIES EXPLICIT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6FAFC"/>
                </a:solidFill>
                <a:latin typeface="Aptos"/>
              </a:defRPr>
            </a:pPr>
            <a:r>
              <a:t>Metric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37392" cy="13716"/>
          </a:xfrm>
          <a:prstGeom prst="rect">
            <a:avLst/>
          </a:prstGeom>
          <a:solidFill>
            <a:srgbClr val="294553"/>
          </a:solidFill>
          <a:ln>
            <a:solidFill>
              <a:srgbClr val="294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65392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9DB0BC"/>
                </a:solidFill>
                <a:latin typeface="Aptos Mono"/>
              </a:defRPr>
            </a:pPr>
            <a:r>
              <a:t>DGX SPARK  /  CPU x GPU GOVERNORS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6812280" cy="196596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20116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35D0BA"/>
                </a:solidFill>
                <a:latin typeface="Aptos Mono"/>
              </a:defRPr>
            </a:pPr>
            <a:r>
              <a:t>GPU EDP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608076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3100" b="1">
                <a:solidFill>
                  <a:srgbClr val="F6FAFC"/>
                </a:solidFill>
                <a:latin typeface="Aptos"/>
              </a:rPr>
              <a:t>gpu_time</a:t>
            </a:r>
            <a:r>
              <a:rPr sz="3100" b="0">
                <a:solidFill>
                  <a:srgbClr val="9DB0BC"/>
                </a:solidFill>
                <a:latin typeface="Aptos"/>
              </a:rPr>
              <a:t>²  x  </a:t>
            </a:r>
            <a:r>
              <a:rPr sz="3100" b="1">
                <a:solidFill>
                  <a:srgbClr val="FF786A"/>
                </a:solidFill>
                <a:latin typeface="Aptos"/>
              </a:rPr>
              <a:t>GPU 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44368"/>
            <a:ext cx="5303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9DB0BC"/>
                </a:solidFill>
                <a:latin typeface="Aptos"/>
              </a:defRPr>
            </a:pPr>
            <a:r>
              <a:t>Device-side energy-delay proxy; lower is better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417320"/>
            <a:ext cx="3840480" cy="196596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719072"/>
            <a:ext cx="32004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F786A"/>
                </a:solidFill>
                <a:latin typeface="Aptos Mono"/>
              </a:defRPr>
            </a:pPr>
            <a:r>
              <a:t>LAUNCH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267712"/>
            <a:ext cx="315468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FAFC"/>
                </a:solidFill>
                <a:latin typeface="Aptos"/>
              </a:defRPr>
            </a:pPr>
            <a:r>
              <a:t>LATENCY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944368"/>
            <a:ext cx="3154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9DB0BC"/>
                </a:solidFill>
                <a:latin typeface="Aptos"/>
              </a:defRPr>
            </a:pPr>
            <a:r>
              <a:t>Never folded into GPU EDP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005072"/>
            <a:ext cx="2743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F6FAFC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617720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507992"/>
            <a:ext cx="10378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0">
                <a:solidFill>
                  <a:srgbClr val="F6FAFC"/>
                </a:solidFill>
                <a:latin typeface="Aptos"/>
              </a:defRPr>
            </a:pPr>
            <a:r>
              <a:t>Avoids mixing host launch effects with device 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5029200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919472"/>
            <a:ext cx="10378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0">
                <a:solidFill>
                  <a:srgbClr val="F6FAFC"/>
                </a:solidFill>
                <a:latin typeface="Aptos"/>
              </a:defRPr>
            </a:pPr>
            <a:r>
              <a:t>Makes CPU and GPU governor attribution interpretable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440680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330952"/>
            <a:ext cx="10378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0">
                <a:solidFill>
                  <a:srgbClr val="F6FAFC"/>
                </a:solidFill>
                <a:latin typeface="Aptos"/>
              </a:defRPr>
            </a:pPr>
            <a:r>
              <a:t>Preserves the measured units from source artifacts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35D0BA"/>
                </a:solidFill>
                <a:latin typeface="Aptos Mono"/>
              </a:defRPr>
            </a:pPr>
            <a:r>
              <a:t>EVIDENCE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6FAFC"/>
                </a:solidFill>
                <a:latin typeface="Aptos"/>
              </a:defRPr>
            </a:pPr>
            <a:r>
              <a:t>Data quality and censoring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37392" cy="13716"/>
          </a:xfrm>
          <a:prstGeom prst="rect">
            <a:avLst/>
          </a:prstGeom>
          <a:solidFill>
            <a:srgbClr val="294553"/>
          </a:solidFill>
          <a:ln>
            <a:solidFill>
              <a:srgbClr val="294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65392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9DB0BC"/>
                </a:solidFill>
                <a:latin typeface="Aptos Mono"/>
              </a:defRPr>
            </a:pPr>
            <a:r>
              <a:t>DGX SPARK  /  CPU x GPU GOVERNORS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2487168" cy="123444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53312"/>
            <a:ext cx="54864" cy="1234440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17904"/>
            <a:ext cx="21214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AGGREGATE CELLS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74519"/>
            <a:ext cx="2121408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FAFC"/>
                </a:solidFill>
                <a:latin typeface="Aptos"/>
              </a:defRPr>
            </a:pPr>
            <a:r>
              <a:t>240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353312"/>
            <a:ext cx="2487168" cy="123444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2" y="1353312"/>
            <a:ext cx="54864" cy="1234440"/>
          </a:xfrm>
          <a:prstGeom prst="rect">
            <a:avLst/>
          </a:prstGeom>
          <a:solidFill>
            <a:srgbClr val="FF786A"/>
          </a:solidFill>
          <a:ln>
            <a:solidFill>
              <a:srgbClr val="FF7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517904"/>
            <a:ext cx="21214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CENSORED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1874519"/>
            <a:ext cx="2121408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FAFC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1353312"/>
            <a:ext cx="2487168" cy="123444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1353312"/>
            <a:ext cx="54864" cy="1234440"/>
          </a:xfrm>
          <a:prstGeom prst="rect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1517904"/>
            <a:ext cx="21214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GPU TIME VALID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1874519"/>
            <a:ext cx="2121408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FAFC"/>
                </a:solidFill>
                <a:latin typeface="Aptos"/>
              </a:defRPr>
            </a:pPr>
            <a:r>
              <a:t>234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43416" y="1353312"/>
            <a:ext cx="2487168" cy="123444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43416" y="1353312"/>
            <a:ext cx="54864" cy="1234440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4584" y="1517904"/>
            <a:ext cx="21214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EDP VALID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1874519"/>
            <a:ext cx="2121408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FAFC"/>
                </a:solidFill>
                <a:latin typeface="Aptos"/>
              </a:defRPr>
            </a:pPr>
            <a:r>
              <a:t>220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2971800"/>
            <a:ext cx="10972800" cy="269748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310128"/>
            <a:ext cx="3657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35D0BA"/>
                </a:solidFill>
                <a:latin typeface="Aptos Mono"/>
              </a:defRPr>
            </a:pPr>
            <a:r>
              <a:t>ARTIFACT-REPORTED FLAGS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840480"/>
            <a:ext cx="73152" cy="73152"/>
          </a:xfrm>
          <a:prstGeom prst="rect">
            <a:avLst/>
          </a:prstGeom>
          <a:solidFill>
            <a:srgbClr val="FF786A"/>
          </a:solidFill>
          <a:ln>
            <a:solidFill>
              <a:srgbClr val="FF7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3730752"/>
            <a:ext cx="9829800" cy="1481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F6FAFC"/>
                </a:solidFill>
                <a:latin typeface="Aptos"/>
              </a:defRPr>
            </a:pPr>
            <a:r>
              <a:t>Censoring and instrumentation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35D0BA"/>
                </a:solidFill>
                <a:latin typeface="Aptos Mono"/>
              </a:defRPr>
            </a:pPr>
            <a:r>
              <a:t>THE GOVERNOR ONLY HELPS THE CONSTRAINED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6FAFC"/>
                </a:solidFill>
                <a:latin typeface="Aptos"/>
              </a:defRPr>
            </a:pPr>
            <a:r>
              <a:t>Workload bottlenecks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37392" cy="13716"/>
          </a:xfrm>
          <a:prstGeom prst="rect">
            <a:avLst/>
          </a:prstGeom>
          <a:solidFill>
            <a:srgbClr val="294553"/>
          </a:solidFill>
          <a:ln>
            <a:solidFill>
              <a:srgbClr val="294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65392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9DB0BC"/>
                </a:solidFill>
                <a:latin typeface="Aptos Mono"/>
              </a:defRPr>
            </a:pPr>
            <a:r>
              <a:t>DGX SPARK  /  CPU x GPU GOVERNORS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64208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35D0BA"/>
                </a:solidFill>
                <a:latin typeface="Aptos Mono"/>
              </a:defRPr>
            </a:pPr>
            <a:r>
              <a:t>READOUT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194560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084831"/>
            <a:ext cx="2743200" cy="1755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6FAFC"/>
                </a:solidFill>
                <a:latin typeface="Aptos"/>
              </a:defRPr>
            </a:pPr>
            <a:r>
              <a:t>CPU, GPU, memcpy, and launch timers may overlap and are nonadditive. The component plot is a bottleneck diagnostic, not a decomposition of launch latency.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977639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867911"/>
            <a:ext cx="2743200" cy="1755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6FAFC"/>
                </a:solidFill>
                <a:latin typeface="Aptos"/>
              </a:defRPr>
            </a:pPr>
            <a:r>
              <a:t>CPU package power is absent on DGX Spark, so CPU EDP and whole-system EDP cannot be computed. CPU time and launch time are latency metrics 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353312"/>
            <a:ext cx="704088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5_time_components_bottlen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53312"/>
            <a:ext cx="7040880" cy="4800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0" y="6208776"/>
            <a:ext cx="70408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9DB0BC"/>
                </a:solidFill>
                <a:latin typeface="Aptos Mono"/>
              </a:defRPr>
            </a:pPr>
            <a:r>
              <a:t>05_time_components_bottlenecks.png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35D0BA"/>
                </a:solidFill>
                <a:latin typeface="Aptos Mono"/>
              </a:defRPr>
            </a:pPr>
            <a:r>
              <a:t>HOST-SIDE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6FAFC"/>
                </a:solidFill>
                <a:latin typeface="Aptos"/>
              </a:defRPr>
            </a:pPr>
            <a:r>
              <a:t>CPU governor impact on launch latency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37392" cy="13716"/>
          </a:xfrm>
          <a:prstGeom prst="rect">
            <a:avLst/>
          </a:prstGeom>
          <a:solidFill>
            <a:srgbClr val="294553"/>
          </a:solidFill>
          <a:ln>
            <a:solidFill>
              <a:srgbClr val="294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65392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9DB0BC"/>
                </a:solidFill>
                <a:latin typeface="Aptos Mono"/>
              </a:defRPr>
            </a:pPr>
            <a:r>
              <a:t>DGX SPARK  /  CPU x GPU GOVERNORS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3584448" cy="1353312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89888"/>
            <a:ext cx="54864" cy="135331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54480"/>
            <a:ext cx="32186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CPU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911095"/>
            <a:ext cx="3218688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FAFC"/>
                </a:solidFill>
                <a:latin typeface="Aptos"/>
              </a:defRPr>
            </a:pPr>
            <a:r>
              <a:t>-2.8%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267712"/>
            <a:ext cx="321868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9DB0BC"/>
                </a:solidFill>
                <a:latin typeface="Aptos"/>
              </a:defRPr>
            </a:pPr>
            <a:r>
              <a:t>median application-latency change vs CPU powersave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264408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54680"/>
            <a:ext cx="3246120" cy="6888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6FAFC"/>
                </a:solidFill>
                <a:latin typeface="Aptos"/>
              </a:defRPr>
            </a:pPr>
            <a:r>
              <a:t>CPU performance lowers latency in 106 of 117 comparable cells.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980688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70960"/>
            <a:ext cx="3246120" cy="6888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6FAFC"/>
                </a:solidFill>
                <a:latin typeface="Aptos"/>
              </a:defRPr>
            </a:pPr>
            <a:r>
              <a:t>Largest application-level gains include babelstream, lavaMD, nw, pathfinder, and srad.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696968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87240"/>
            <a:ext cx="3246120" cy="6888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6FAFC"/>
                </a:solidFill>
                <a:latin typeface="Aptos"/>
              </a:defRPr>
            </a:pPr>
            <a:r>
              <a:t>This is a host/application effect; GPU execution remains nearly unchanged.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353312"/>
            <a:ext cx="704088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2_cpu_impact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53312"/>
            <a:ext cx="7040880" cy="4800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0" y="6208776"/>
            <a:ext cx="70408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9DB0BC"/>
                </a:solidFill>
                <a:latin typeface="Aptos Mono"/>
              </a:defRPr>
            </a:pPr>
            <a:r>
              <a:t>02_cpu_impact_latency.png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35D0BA"/>
                </a:solidFill>
                <a:latin typeface="Aptos Mono"/>
              </a:defRPr>
            </a:pPr>
            <a:r>
              <a:t>CROSS-DOMAIN COUPLING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6FAFC"/>
                </a:solidFill>
                <a:latin typeface="Aptos"/>
              </a:defRPr>
            </a:pPr>
            <a:r>
              <a:t>CPU impact on GPU time and EDP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37392" cy="13716"/>
          </a:xfrm>
          <a:prstGeom prst="rect">
            <a:avLst/>
          </a:prstGeom>
          <a:solidFill>
            <a:srgbClr val="294553"/>
          </a:solidFill>
          <a:ln>
            <a:solidFill>
              <a:srgbClr val="294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65392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9DB0BC"/>
                </a:solidFill>
                <a:latin typeface="Aptos Mono"/>
              </a:defRPr>
            </a:pPr>
            <a:r>
              <a:t>DGX SPARK  /  CPU x GPU GOVERNORS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401568" cy="1389888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54864" cy="1389888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36192"/>
            <a:ext cx="30358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GPU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92807"/>
            <a:ext cx="3035808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FAFC"/>
                </a:solidFill>
                <a:latin typeface="Aptos"/>
              </a:defRPr>
            </a:pPr>
            <a:r>
              <a:t>-0.0%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286000"/>
            <a:ext cx="30358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9DB0BC"/>
                </a:solidFill>
                <a:latin typeface="Aptos"/>
              </a:defRPr>
            </a:pPr>
            <a:r>
              <a:t>CPU performance vs CPU powersave; paired-cell median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401568" cy="1389888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54864" cy="1389888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536192"/>
            <a:ext cx="30358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GPU EDP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892807"/>
            <a:ext cx="3035808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FAFC"/>
                </a:solidFill>
                <a:latin typeface="Aptos"/>
              </a:defRPr>
            </a:pPr>
            <a:r>
              <a:t>-0.2%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286000"/>
            <a:ext cx="30358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9DB0BC"/>
                </a:solidFill>
                <a:latin typeface="Aptos"/>
              </a:defRPr>
            </a:pPr>
            <a:r>
              <a:t>CPU performance vs CPU powersave; paired-cell median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71600"/>
            <a:ext cx="3337560" cy="1389888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645920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FF786A"/>
                </a:solidFill>
                <a:latin typeface="Aptos Mono"/>
              </a:defRPr>
            </a:pPr>
            <a:r>
              <a:t>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029968"/>
            <a:ext cx="26517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F6FAFC"/>
                </a:solidFill>
                <a:latin typeface="Aptos"/>
              </a:defRPr>
            </a:pPr>
            <a:r>
              <a:t>Treat host and device metrics independently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154680"/>
            <a:ext cx="10972800" cy="2542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3_cpu_impact_gpu_e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154680"/>
            <a:ext cx="10972800" cy="254203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" y="5751576"/>
            <a:ext cx="10972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9DB0BC"/>
                </a:solidFill>
                <a:latin typeface="Aptos Mono"/>
              </a:defRPr>
            </a:pPr>
            <a:r>
              <a:t>03_cpu_impact_gpu_edp.png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35D0BA"/>
                </a:solidFill>
                <a:latin typeface="Aptos Mono"/>
              </a:defRPr>
            </a:pPr>
            <a:r>
              <a:t>TIME SAVED VERSUS POWER SPENT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6FAFC"/>
                </a:solidFill>
                <a:latin typeface="Aptos"/>
              </a:defRPr>
            </a:pPr>
            <a:r>
              <a:t>GPU governor tradeoff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37392" cy="13716"/>
          </a:xfrm>
          <a:prstGeom prst="rect">
            <a:avLst/>
          </a:prstGeom>
          <a:solidFill>
            <a:srgbClr val="294553"/>
          </a:solidFill>
          <a:ln>
            <a:solidFill>
              <a:srgbClr val="294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65392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9DB0BC"/>
                </a:solidFill>
                <a:latin typeface="Aptos Mono"/>
              </a:defRPr>
            </a:pPr>
            <a:r>
              <a:t>DGX SPARK  /  CPU x GPU GOVERNORS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3566160" cy="1298448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89888"/>
            <a:ext cx="54864" cy="1298448"/>
          </a:xfrm>
          <a:prstGeom prst="rect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54480"/>
            <a:ext cx="3200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ONDEMAND GPU EDP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911095"/>
            <a:ext cx="32004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FAFC"/>
                </a:solidFill>
                <a:latin typeface="Aptos"/>
              </a:defRPr>
            </a:pPr>
            <a:r>
              <a:t>+4.0% / +9.9%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212848"/>
            <a:ext cx="32004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9DB0BC"/>
                </a:solidFill>
                <a:latin typeface="Aptos"/>
              </a:defRPr>
            </a:pPr>
            <a:r>
              <a:t>CPU powersave / CPU performance; median vs default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017520"/>
            <a:ext cx="3566160" cy="1298448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017520"/>
            <a:ext cx="54864" cy="1298448"/>
          </a:xfrm>
          <a:prstGeom prst="rect">
            <a:avLst/>
          </a:prstGeom>
          <a:solidFill>
            <a:srgbClr val="FF786A"/>
          </a:solidFill>
          <a:ln>
            <a:solidFill>
              <a:srgbClr val="FF7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182112"/>
            <a:ext cx="3200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POWERSAVE GPU EDP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538727"/>
            <a:ext cx="32004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FAFC"/>
                </a:solidFill>
                <a:latin typeface="Aptos"/>
              </a:defRPr>
            </a:pPr>
            <a:r>
              <a:t>+786% / +798%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840479"/>
            <a:ext cx="32004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9DB0BC"/>
                </a:solidFill>
                <a:latin typeface="Aptos"/>
              </a:defRPr>
            </a:pPr>
            <a:r>
              <a:t>~73% less power, but ~5x GPU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00600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6FAFC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239512"/>
            <a:ext cx="329184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9DB0BC"/>
                </a:solidFill>
                <a:latin typeface="Aptos"/>
              </a:defRPr>
            </a:pPr>
            <a:r>
              <a:t>Prefer lower EDP unless latency SLOs justify the power premium.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353312"/>
            <a:ext cx="704088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4_gpu_governor_edp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53312"/>
            <a:ext cx="7040880" cy="4800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0" y="6208776"/>
            <a:ext cx="70408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9DB0BC"/>
                </a:solidFill>
                <a:latin typeface="Aptos Mono"/>
              </a:defRPr>
            </a:pPr>
            <a:r>
              <a:t>04_gpu_governor_edp_heatmaps.png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35D0BA"/>
                </a:solidFill>
                <a:latin typeface="Aptos Mono"/>
              </a:defRPr>
            </a:pPr>
            <a:r>
              <a:t>WHERE POLICY EARNS ITS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6FAFC"/>
                </a:solidFill>
                <a:latin typeface="Aptos"/>
              </a:defRPr>
            </a:pPr>
            <a:r>
              <a:t>Workload-specific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37392" cy="13716"/>
          </a:xfrm>
          <a:prstGeom prst="rect">
            <a:avLst/>
          </a:prstGeom>
          <a:solidFill>
            <a:srgbClr val="294553"/>
          </a:solidFill>
          <a:ln>
            <a:solidFill>
              <a:srgbClr val="294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65392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9DB0BC"/>
                </a:solidFill>
                <a:latin typeface="Aptos Mono"/>
              </a:defRPr>
            </a:pPr>
            <a:r>
              <a:t>DGX SPARK  /  CPU x GPU GOVERNORS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401568" cy="141732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54864" cy="1417320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36192"/>
            <a:ext cx="30358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BACKPROP / ONDEMAND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92807"/>
            <a:ext cx="3035808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FAFC"/>
                </a:solidFill>
                <a:latin typeface="Aptos"/>
              </a:defRPr>
            </a:pPr>
            <a:r>
              <a:t>-51.5%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313432"/>
            <a:ext cx="30358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9DB0BC"/>
                </a:solidFill>
                <a:latin typeface="Aptos"/>
              </a:defRPr>
            </a:pPr>
            <a:r>
              <a:t>GPU EDP; &lt;=2.2% latency; 10/10 repeats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401568" cy="141732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54864" cy="1417320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536192"/>
            <a:ext cx="30358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LAVAMD / ONDEMAND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892807"/>
            <a:ext cx="3035808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FAFC"/>
                </a:solidFill>
                <a:latin typeface="Aptos"/>
              </a:defRPr>
            </a:pPr>
            <a:r>
              <a:t>-2.5%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313432"/>
            <a:ext cx="30358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9DB0BC"/>
                </a:solidFill>
                <a:latin typeface="Aptos"/>
              </a:defRPr>
            </a:pPr>
            <a:r>
              <a:t>GPU EDP; no latency cost; 10/10 repeats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371600"/>
            <a:ext cx="3401568" cy="141732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371600"/>
            <a:ext cx="54864" cy="1417320"/>
          </a:xfrm>
          <a:prstGeom prst="rect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1536192"/>
            <a:ext cx="30358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BH + NBODY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1892807"/>
            <a:ext cx="3035808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FAFC"/>
                </a:solidFill>
                <a:latin typeface="Aptos"/>
              </a:defRPr>
            </a:pPr>
            <a:r>
              <a:t>&lt;1%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2313432"/>
            <a:ext cx="30358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9DB0BC"/>
                </a:solidFill>
                <a:latin typeface="Aptos"/>
              </a:defRPr>
            </a:pPr>
            <a:r>
              <a:t>direction agrees, but practical significance is weak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154680"/>
            <a:ext cx="10972800" cy="25877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6_valid_w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154680"/>
            <a:ext cx="10972800" cy="258775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4360" y="5797296"/>
            <a:ext cx="10972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9DB0BC"/>
                </a:solidFill>
                <a:latin typeface="Aptos Mono"/>
              </a:defRPr>
            </a:pPr>
            <a:r>
              <a:t>06_valid_wins.png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35D0BA"/>
                </a:solidFill>
                <a:latin typeface="Aptos Mono"/>
              </a:defRPr>
            </a:pPr>
            <a:r>
              <a:t>EVIDENCE FIRST; EXCEPTIONS EXPLICIT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6FAFC"/>
                </a:solidFill>
                <a:latin typeface="Aptos"/>
              </a:defRPr>
            </a:pPr>
            <a:r>
              <a:t>Robust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37392" cy="13716"/>
          </a:xfrm>
          <a:prstGeom prst="rect">
            <a:avLst/>
          </a:prstGeom>
          <a:solidFill>
            <a:srgbClr val="294553"/>
          </a:solidFill>
          <a:ln>
            <a:solidFill>
              <a:srgbClr val="294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65392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9DB0BC"/>
                </a:solidFill>
                <a:latin typeface="Aptos Mono"/>
              </a:defRPr>
            </a:pPr>
            <a:r>
              <a:t>DGX SPARK  /  CPU x GPU GOVERNORS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53312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35D0BA"/>
                </a:solidFill>
                <a:latin typeface="Aptos Mono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517904"/>
            <a:ext cx="946404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600" b="1">
                <a:solidFill>
                  <a:srgbClr val="F6FAFC"/>
                </a:solidFill>
                <a:latin typeface="Aptos"/>
              </a:defRPr>
            </a:pPr>
            <a:r>
              <a:t>Use gpu_ondemand for backprop and lavaMD after a short guarded trial.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496312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FF786A"/>
                </a:solidFill>
                <a:latin typeface="Aptos Mono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660904"/>
            <a:ext cx="946404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600" b="0">
                <a:solidFill>
                  <a:srgbClr val="F6FAFC"/>
                </a:solidFill>
                <a:latin typeface="Aptos"/>
              </a:defRPr>
            </a:pPr>
            <a:r>
              <a:t>Treat bh and nbody as marginal candidates; their gains are below 1% and repeat consistency is weak.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639312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FFC857"/>
                </a:solidFill>
                <a:latin typeface="Aptos Mono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803904"/>
            <a:ext cx="946404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600" b="0">
                <a:solidFill>
                  <a:srgbClr val="F6FAFC"/>
                </a:solidFill>
                <a:latin typeface="Aptos"/>
              </a:defRPr>
            </a:pPr>
            <a:r>
              <a:t>Retain gpu_default for other measured workloads and for unknown applications.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782312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69C91"/>
                </a:solidFill>
                <a:latin typeface="Aptos Mono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946904"/>
            <a:ext cx="946404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600" b="0">
                <a:solidFill>
                  <a:srgbClr val="F6FAFC"/>
                </a:solidFill>
                <a:latin typeface="Aptos"/>
              </a:defRPr>
            </a:pPr>
            <a:r>
              <a:t>Avoid gpu_powersave globally; only backprop shows a robust valid win. Never use it for censored gemmEx, mixbench, or myocyte cells.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35D0BA"/>
                </a:solidFill>
                <a:latin typeface="Aptos Mono"/>
              </a:defRPr>
            </a:pPr>
            <a:r>
              <a:t>PORTABLE COUNTERS, INSPECTABLE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6FAFC"/>
                </a:solidFill>
                <a:latin typeface="Aptos"/>
              </a:defRPr>
            </a:pPr>
            <a:r>
              <a:t>Transparent runtime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37392" cy="13716"/>
          </a:xfrm>
          <a:prstGeom prst="rect">
            <a:avLst/>
          </a:prstGeom>
          <a:solidFill>
            <a:srgbClr val="294553"/>
          </a:solidFill>
          <a:ln>
            <a:solidFill>
              <a:srgbClr val="294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65392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9DB0BC"/>
                </a:solidFill>
                <a:latin typeface="Aptos Mono"/>
              </a:defRPr>
            </a:pPr>
            <a:r>
              <a:t>DGX SPARK  /  CPU x GPU GOVERNORS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2578608" cy="182880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35D0BA"/>
                </a:solidFill>
                <a:latin typeface="Aptos Mono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84831"/>
            <a:ext cx="2011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F6FAFC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78608"/>
            <a:ext cx="20574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9DB0BC"/>
                </a:solidFill>
                <a:latin typeface="Aptos"/>
              </a:defRPr>
            </a:pPr>
            <a:r>
              <a:t>launch latency / device time / utilization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417320"/>
            <a:ext cx="2578608" cy="182880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1664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FFC857"/>
                </a:solidFill>
                <a:latin typeface="Aptos Mono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084831"/>
            <a:ext cx="2011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F6FAFC"/>
                </a:solidFill>
                <a:latin typeface="Aptos"/>
              </a:defRPr>
            </a:pPr>
            <a:r>
              <a:t>Classify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578608"/>
            <a:ext cx="20574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9DB0BC"/>
                </a:solidFill>
                <a:latin typeface="Aptos"/>
              </a:defRPr>
            </a:pPr>
            <a:r>
              <a:t>host-bound / device-bound / insensitive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1417320"/>
            <a:ext cx="2578608" cy="182880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664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FF786A"/>
                </a:solidFill>
                <a:latin typeface="Aptos Mono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2084831"/>
            <a:ext cx="2011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F6FAFC"/>
                </a:solidFill>
                <a:latin typeface="Aptos"/>
              </a:defRPr>
            </a:pPr>
            <a:r>
              <a:t>Select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2578608"/>
            <a:ext cx="20574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9DB0BC"/>
                </a:solidFill>
                <a:latin typeface="Aptos"/>
              </a:defRPr>
            </a:pPr>
            <a:r>
              <a:t>lowest-cost governor meeting the SLO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98864" y="1417320"/>
            <a:ext cx="2578608" cy="182880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27464" y="1664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35D0BA"/>
                </a:solidFill>
                <a:latin typeface="Aptos Mono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7464" y="2084831"/>
            <a:ext cx="2011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F6FAFC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4" y="2578608"/>
            <a:ext cx="20574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9DB0BC"/>
                </a:solidFill>
                <a:latin typeface="Aptos"/>
              </a:defRPr>
            </a:pPr>
            <a:r>
              <a:t>re-sample; fall back on 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858768"/>
            <a:ext cx="3291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35D0BA"/>
                </a:solidFill>
                <a:latin typeface="Aptos Mono"/>
              </a:defRPr>
            </a:pPr>
            <a:r>
              <a:t>PORTABLE SIGNAL CLASSES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370832"/>
            <a:ext cx="3337560" cy="475488"/>
          </a:xfrm>
          <a:prstGeom prst="roundRect">
            <a:avLst>
              <a:gd name="adj" fmla="val 8000"/>
            </a:avLst>
          </a:prstGeom>
          <a:solidFill>
            <a:srgbClr val="153747"/>
          </a:solidFill>
          <a:ln>
            <a:solidFill>
              <a:srgbClr val="15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4480560"/>
            <a:ext cx="2971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F6FAFC"/>
                </a:solidFill>
                <a:latin typeface="Aptos"/>
              </a:defRPr>
            </a:pPr>
            <a:r>
              <a:t>SM active 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370832"/>
            <a:ext cx="3337560" cy="475488"/>
          </a:xfrm>
          <a:prstGeom prst="roundRect">
            <a:avLst>
              <a:gd name="adj" fmla="val 8000"/>
            </a:avLst>
          </a:prstGeom>
          <a:solidFill>
            <a:srgbClr val="153747"/>
          </a:solidFill>
          <a:ln>
            <a:solidFill>
              <a:srgbClr val="15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4480560"/>
            <a:ext cx="2971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F6FAFC"/>
                </a:solidFill>
                <a:latin typeface="Aptos"/>
              </a:defRPr>
            </a:pPr>
            <a:r>
              <a:t>normalized SM clock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4370832"/>
            <a:ext cx="3337560" cy="475488"/>
          </a:xfrm>
          <a:prstGeom prst="roundRect">
            <a:avLst>
              <a:gd name="adj" fmla="val 8000"/>
            </a:avLst>
          </a:prstGeom>
          <a:solidFill>
            <a:srgbClr val="153747"/>
          </a:solidFill>
          <a:ln>
            <a:solidFill>
              <a:srgbClr val="15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65592" y="4480560"/>
            <a:ext cx="2971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F6FAFC"/>
                </a:solidFill>
                <a:latin typeface="Aptos"/>
              </a:defRPr>
            </a:pPr>
            <a:r>
              <a:t>normalized memory clock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084064"/>
            <a:ext cx="3337560" cy="475488"/>
          </a:xfrm>
          <a:prstGeom prst="roundRect">
            <a:avLst>
              <a:gd name="adj" fmla="val 8000"/>
            </a:avLst>
          </a:prstGeom>
          <a:solidFill>
            <a:srgbClr val="153747"/>
          </a:solidFill>
          <a:ln>
            <a:solidFill>
              <a:srgbClr val="15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5193792"/>
            <a:ext cx="2971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F6FAFC"/>
                </a:solidFill>
                <a:latin typeface="Aptos"/>
              </a:defRPr>
            </a:pPr>
            <a:r>
              <a:t>GPU power / temperature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5084064"/>
            <a:ext cx="3337560" cy="475488"/>
          </a:xfrm>
          <a:prstGeom prst="roundRect">
            <a:avLst>
              <a:gd name="adj" fmla="val 8000"/>
            </a:avLst>
          </a:prstGeom>
          <a:solidFill>
            <a:srgbClr val="153747"/>
          </a:solidFill>
          <a:ln>
            <a:solidFill>
              <a:srgbClr val="153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62272" y="5193792"/>
            <a:ext cx="2971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F6FAFC"/>
                </a:solidFill>
                <a:latin typeface="Aptos"/>
              </a:defRPr>
            </a:pPr>
            <a:r>
              <a:t>launch latency sentinel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35D0BA"/>
                </a:solidFill>
                <a:latin typeface="Aptos Mono"/>
              </a:defRPr>
            </a:pPr>
            <a:r>
              <a:t>WHAT MUST GENERALIZE BEFORE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>
                <a:solidFill>
                  <a:srgbClr val="F6FAFC"/>
                </a:solidFill>
                <a:latin typeface="Aptos"/>
              </a:defRPr>
            </a:pPr>
            <a:r>
              <a:t>Limitations and x86 HPC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37392" cy="13716"/>
          </a:xfrm>
          <a:prstGeom prst="rect">
            <a:avLst/>
          </a:prstGeom>
          <a:solidFill>
            <a:srgbClr val="294553"/>
          </a:solidFill>
          <a:ln>
            <a:solidFill>
              <a:srgbClr val="294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65392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9DB0BC"/>
                </a:solidFill>
                <a:latin typeface="Aptos Mono"/>
              </a:defRPr>
            </a:pPr>
            <a:r>
              <a:t>DGX SPARK  /  CPU x GPU GOVERNORS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9DB0BC"/>
                </a:solidFill>
                <a:latin typeface="Aptos Mono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5257800" cy="452628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4480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FF786A"/>
                </a:solidFill>
                <a:latin typeface="Aptos Mono"/>
              </a:defRPr>
            </a:pPr>
            <a:r>
              <a:t>LIMITATIONS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258568"/>
            <a:ext cx="73152" cy="73152"/>
          </a:xfrm>
          <a:prstGeom prst="rect">
            <a:avLst/>
          </a:prstGeom>
          <a:solidFill>
            <a:srgbClr val="FF786A"/>
          </a:solidFill>
          <a:ln>
            <a:solidFill>
              <a:srgbClr val="FF7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148840"/>
            <a:ext cx="425196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6FAFC"/>
                </a:solidFill>
                <a:latin typeface="Aptos"/>
              </a:defRPr>
            </a:pPr>
            <a:r>
              <a:t>CPU modes were measured on different dates; frequency is confounded with run-date and system drift.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035808"/>
            <a:ext cx="73152" cy="73152"/>
          </a:xfrm>
          <a:prstGeom prst="rect">
            <a:avLst/>
          </a:prstGeom>
          <a:solidFill>
            <a:srgbClr val="FF786A"/>
          </a:solidFill>
          <a:ln>
            <a:solidFill>
              <a:srgbClr val="FF7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926080"/>
            <a:ext cx="425196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6FAFC"/>
                </a:solidFill>
                <a:latin typeface="Aptos"/>
              </a:defRPr>
            </a:pPr>
            <a:r>
              <a:t>CPU package power is unavailable, so CPU EDP and whole-system EDP are not reported.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813048"/>
            <a:ext cx="73152" cy="73152"/>
          </a:xfrm>
          <a:prstGeom prst="rect">
            <a:avLst/>
          </a:prstGeom>
          <a:solidFill>
            <a:srgbClr val="FF786A"/>
          </a:solidFill>
          <a:ln>
            <a:solidFill>
              <a:srgbClr val="FF7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703320"/>
            <a:ext cx="425196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6FAFC"/>
                </a:solidFill>
                <a:latin typeface="Aptos"/>
              </a:defRPr>
            </a:pPr>
            <a:r>
              <a:t>Component timers may overlap and are diagnostic, not an additive launch-time decomposition.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590288"/>
            <a:ext cx="73152" cy="73152"/>
          </a:xfrm>
          <a:prstGeom prst="rect">
            <a:avLst/>
          </a:prstGeom>
          <a:solidFill>
            <a:srgbClr val="FF786A"/>
          </a:solidFill>
          <a:ln>
            <a:solidFill>
              <a:srgbClr val="FF7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480560"/>
            <a:ext cx="425196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6FAFC"/>
                </a:solidFill>
                <a:latin typeface="Aptos"/>
              </a:defRPr>
            </a:pPr>
            <a:r>
              <a:t>Sub-percent EDP differences need reproduction before deployment.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371600"/>
            <a:ext cx="5440680" cy="4526280"/>
          </a:xfrm>
          <a:prstGeom prst="roundRect">
            <a:avLst>
              <a:gd name="adj" fmla="val 8000"/>
            </a:avLst>
          </a:prstGeom>
          <a:solidFill>
            <a:srgbClr val="102B3B"/>
          </a:solidFill>
          <a:ln>
            <a:solidFill>
              <a:srgbClr val="10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700784"/>
            <a:ext cx="4572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35D0BA"/>
                </a:solidFill>
                <a:latin typeface="Aptos Mono"/>
              </a:defRPr>
            </a:pPr>
            <a:r>
              <a:t>X86 HPC VALIDATION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2258568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148840"/>
            <a:ext cx="438912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6FAFC"/>
                </a:solidFill>
                <a:latin typeface="Aptos"/>
              </a:defRPr>
            </a:pPr>
            <a:r>
              <a:t>Repeat the full factorial design on target CPU and accelerator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3035808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926080"/>
            <a:ext cx="438912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6FAFC"/>
                </a:solidFill>
                <a:latin typeface="Aptos"/>
              </a:defRPr>
            </a:pPr>
            <a:r>
              <a:t>Normalize counter classes, not platform-specific event names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3813048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703320"/>
            <a:ext cx="438912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6FAFC"/>
                </a:solidFill>
                <a:latin typeface="Aptos"/>
              </a:defRPr>
            </a:pPr>
            <a:r>
              <a:t>Test NUMA, MPI rank placement, and multi-GPU contention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4590288"/>
            <a:ext cx="73152" cy="73152"/>
          </a:xfrm>
          <a:prstGeom prst="rect">
            <a:avLst/>
          </a:prstGeom>
          <a:solidFill>
            <a:srgbClr val="35D0BA"/>
          </a:solidFill>
          <a:ln>
            <a:solidFill>
              <a:srgbClr val="35D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480560"/>
            <a:ext cx="438912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6FAFC"/>
                </a:solidFill>
                <a:latin typeface="Aptos"/>
              </a:defRPr>
            </a:pPr>
            <a:r>
              <a:t>Validate policy under production power and thermal limits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6126480"/>
            <a:ext cx="9692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FFC857"/>
                </a:solidFill>
                <a:latin typeface="Aptos Mono"/>
              </a:defRPr>
            </a:pPr>
            <a:r>
              <a:t>Decision gate: reproduce direction, magnitude, and stability before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